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6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7.png"/><Relationship Id="rId7" Type="http://schemas.openxmlformats.org/officeDocument/2006/relationships/image" Target="../media/image5.png"/><Relationship Id="rId12" Type="http://schemas.openxmlformats.org/officeDocument/2006/relationships/image" Target="../media/image85.png"/><Relationship Id="rId2" Type="http://schemas.openxmlformats.org/officeDocument/2006/relationships/image" Target="../media/image1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4.png"/><Relationship Id="rId5" Type="http://schemas.openxmlformats.org/officeDocument/2006/relationships/image" Target="../media/image79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.png"/><Relationship Id="rId7" Type="http://schemas.openxmlformats.org/officeDocument/2006/relationships/image" Target="../media/image9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49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523" y="826156"/>
            <a:ext cx="5034706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386" y="3291012"/>
            <a:ext cx="4258772" cy="26689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0" y="3996630"/>
            <a:ext cx="2095500" cy="75619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343" y="2038350"/>
            <a:ext cx="10501312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150" b="1" i="0" u="none" dirty="0">
                <a:solidFill>
                  <a:srgbClr val="F8FAFC"/>
                </a:solidFill>
                <a:latin typeface="Space Grotesk"/>
              </a:rPr>
              <a:t>AI-Based Navigation Error Recovery for Wafer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00" y="2619524"/>
            <a:ext cx="8096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38BDF8"/>
                </a:solidFill>
                <a:latin typeface="Inter"/>
              </a:rPr>
              <a:t>Multi-Scale Edge-Assisted Template Matching for Sub-Pixel Precision Under Heavy SEM Noise &amp; Spatial Distortion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944" y="6115050"/>
            <a:ext cx="11125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64748B"/>
                </a:solidFill>
                <a:latin typeface="Fira Code"/>
              </a:rPr>
              <a:t>Core Stack: Python • OpenCV • Edge-Gray Dual Fusion • Multi-Scale Pyramid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01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0798" y="3308771"/>
            <a:ext cx="16954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endParaRPr lang="en-IN" sz="1800" b="1" i="0" u="none" dirty="0">
              <a:solidFill>
                <a:srgbClr val="F8FAFC"/>
              </a:solidFill>
              <a:latin typeface="Space Grotesk"/>
            </a:endParaRPr>
          </a:p>
          <a:p>
            <a:pPr algn="ctr">
              <a:lnSpc>
                <a:spcPts val="1979"/>
              </a:lnSpc>
            </a:pPr>
            <a:r>
              <a:rPr sz="1800" b="1" i="0" u="none" dirty="0">
                <a:solidFill>
                  <a:srgbClr val="F8FAFC"/>
                </a:solidFill>
                <a:latin typeface="Space Grotesk"/>
              </a:rPr>
              <a:t>T</a:t>
            </a:r>
            <a:r>
              <a:rPr lang="en-IN" sz="1800" b="1" i="0" u="none" dirty="0" err="1">
                <a:solidFill>
                  <a:srgbClr val="F8FAFC"/>
                </a:solidFill>
                <a:latin typeface="Space Grotesk"/>
              </a:rPr>
              <a:t>eam</a:t>
            </a:r>
            <a:r>
              <a:rPr lang="en-IN" sz="18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lang="en-IN" sz="1800" b="1" i="0" u="none" dirty="0" err="1">
                <a:solidFill>
                  <a:srgbClr val="F8FAFC"/>
                </a:solidFill>
                <a:latin typeface="Space Grotesk"/>
              </a:rPr>
              <a:t>Silicore</a:t>
            </a:r>
            <a:r>
              <a:rPr lang="en-IN" sz="1800" b="1" i="0" u="none" dirty="0">
                <a:solidFill>
                  <a:srgbClr val="F8FAFC"/>
                </a:solidFill>
                <a:latin typeface="Space Grotesk"/>
              </a:rPr>
              <a:t> </a:t>
            </a:r>
            <a:endParaRPr sz="18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48275" y="4158555"/>
            <a:ext cx="169545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endParaRPr sz="1800" b="1" i="0" u="none" dirty="0">
              <a:solidFill>
                <a:srgbClr val="22D3EE"/>
              </a:solidFill>
              <a:latin typeface="Space Grotesk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48275" y="4448026"/>
            <a:ext cx="1695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24775" y="4158555"/>
            <a:ext cx="169545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800" b="1" i="0" u="none">
                <a:solidFill>
                  <a:srgbClr val="10B981"/>
                </a:solidFill>
                <a:latin typeface="Space Grotesk"/>
              </a:rPr>
              <a:t>1.308s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4775" y="4448026"/>
            <a:ext cx="1695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AVG EXECUTION SPEED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8A4E51-61A2-F424-D108-6FFDE33BD8E3}"/>
              </a:ext>
            </a:extLst>
          </p:cNvPr>
          <p:cNvSpPr txBox="1"/>
          <p:nvPr/>
        </p:nvSpPr>
        <p:spPr>
          <a:xfrm>
            <a:off x="2473036" y="3751118"/>
            <a:ext cx="38602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 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Harshini MV 24BEC0490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Sanjeev Kurella 24BEC0149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 err="1">
                <a:solidFill>
                  <a:schemeClr val="bg1"/>
                </a:solidFill>
              </a:rPr>
              <a:t>Taruneshwar</a:t>
            </a:r>
            <a:r>
              <a:rPr lang="en-IN" dirty="0">
                <a:solidFill>
                  <a:schemeClr val="bg1"/>
                </a:solidFill>
              </a:rPr>
              <a:t> Venkatesh 24BEC0301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Hemavathi S 24BEC0560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836717"/>
            <a:ext cx="53721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42120"/>
            <a:ext cx="5372100" cy="1184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817292"/>
            <a:ext cx="5372100" cy="3019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5372100" cy="752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Problem Formulation &amp; Industrial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95400"/>
            <a:ext cx="53721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575" y="600075"/>
            <a:ext cx="1012924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543050"/>
            <a:ext cx="53721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High-throughput semiconductor inspection tools (e.g. SEM) suffer mechanical Stage Drift and Navigation Misalignment when locating targeted wafer dies.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941492"/>
            <a:ext cx="34004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725" y="6941492"/>
            <a:ext cx="8667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680245"/>
            <a:ext cx="5110638" cy="219075"/>
          </a:xfrm>
          <a:prstGeom prst="rect">
            <a:avLst/>
          </a:prstGeom>
          <a:noFill/>
        </p:spPr>
        <p:txBody>
          <a:bodyPr wrap="square" lIns="168026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Operational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975520"/>
            <a:ext cx="4867275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Pinpoint exact center coordinates </a:t>
            </a:r>
            <a:r>
              <a:rPr sz="1050" b="0" i="0" u="none">
                <a:solidFill>
                  <a:srgbClr val="F1F5F9"/>
                </a:solidFill>
                <a:latin typeface="Inter SemiBold"/>
              </a:rPr>
              <a:t>(x, y)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of a </a:t>
            </a:r>
            <a:r>
              <a:rPr sz="1050" b="0" i="0" u="none">
                <a:solidFill>
                  <a:srgbClr val="F1F5F9"/>
                </a:solidFill>
                <a:latin typeface="Inter SemiBold"/>
              </a:rPr>
              <a:t>100×100 reference patch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inside a large </a:t>
            </a:r>
            <a:r>
              <a:rPr sz="1050" b="0" i="0" u="none">
                <a:solidFill>
                  <a:srgbClr val="F1F5F9"/>
                </a:solidFill>
                <a:latin typeface="Inter SemiBold"/>
              </a:rPr>
              <a:t>1000×1000 search image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under severe distortion.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55417"/>
            <a:ext cx="5110638" cy="219075"/>
          </a:xfrm>
          <a:prstGeom prst="rect">
            <a:avLst/>
          </a:prstGeom>
          <a:noFill/>
        </p:spPr>
        <p:txBody>
          <a:bodyPr wrap="square" lIns="168026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59E0B"/>
                </a:solidFill>
                <a:latin typeface="Space Grotesk SemiBold"/>
              </a:rPr>
              <a:t>Critical SEM Perturbations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708820"/>
            <a:ext cx="16802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083992"/>
            <a:ext cx="168026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6800" y="4369742"/>
            <a:ext cx="46005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SEM Gaussian &amp; Shot Noise: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Signal degradation during high-speed electron beam scanning.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926955"/>
            <a:ext cx="46005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Defocus Blur &amp; Low Contrast: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Stage displacement leading to focus attenuation.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5484167"/>
            <a:ext cx="46005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Scale Variance &amp; Micro Rotation: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Thermal drift causing 0.9×–1.1× scale &amp; angular shift.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6041380"/>
            <a:ext cx="46005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Dense Repetitive Structures: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High similarity in DRAM memory arrays producing false positives.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398317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955530"/>
            <a:ext cx="1809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5512742"/>
            <a:ext cx="1428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6069955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74406"/>
            <a:ext cx="111252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71575"/>
            <a:ext cx="3581400" cy="33647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1171575"/>
            <a:ext cx="3581400" cy="33647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171575"/>
            <a:ext cx="3581400" cy="33647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95300"/>
            <a:ext cx="161032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03 / 12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6490" y="5012531"/>
            <a:ext cx="1163984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1390650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475" y="1962150"/>
            <a:ext cx="3300412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1. Preprocessing &amp; Edge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609850"/>
            <a:ext cx="31432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Loads 1000×1000 search image and 100×100 reference patch.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4375" y="1390650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4375" y="1962150"/>
            <a:ext cx="33004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2. Multi-Scale Dual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375" y="2343150"/>
            <a:ext cx="31432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Executes template matching across 9 discrete scale pyramids (0.90× to 1.10×).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6275" y="1390650"/>
            <a:ext cx="419100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96275" y="1962150"/>
            <a:ext cx="3300412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3. Top-5 Candidate Local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5" y="2609850"/>
            <a:ext cx="31432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Selects top 5 correlation peaks across space &amp; scale pyramids.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5069681"/>
            <a:ext cx="2667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1100" y="5012531"/>
            <a:ext cx="907539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SemiBold"/>
              </a:rPr>
              <a:t>System Input/Output Flow: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Reference Patch [100x100] + Search Frame [1000x1000] → Multi-Scale Pyramids → Refined (x, y), Confidence, Execution Time (1.308s)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962" y="1495425"/>
            <a:ext cx="2381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9175" y="3309937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Grayscale Standardization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175" y="3645693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Canny Edge Detector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175" y="3981450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High-frequency structural isolation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9150" y="1495425"/>
            <a:ext cx="209550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91075" y="3043237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Gray Correlation 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075" y="3378993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Edge Correlation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075" y="3714750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Weighted Linear Score Fusion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1050" y="1495425"/>
            <a:ext cx="209550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62975" y="3309937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40-pixel Spatial Bounding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2975" y="3645693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Angular Search (-2° to +2°)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2975" y="3981450"/>
            <a:ext cx="28765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Peak Confidence Gap Analysis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338512"/>
            <a:ext cx="12382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674268"/>
            <a:ext cx="12382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010025"/>
            <a:ext cx="12382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4375" y="3071812"/>
            <a:ext cx="12382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4375" y="3407568"/>
            <a:ext cx="12382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4375" y="3743325"/>
            <a:ext cx="12382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6275" y="3338512"/>
            <a:ext cx="1238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6275" y="3674268"/>
            <a:ext cx="12382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6275" y="4010025"/>
            <a:ext cx="123825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End-to-End Algorithmic Architecture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71575"/>
            <a:ext cx="5419725" cy="38219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71575"/>
            <a:ext cx="5419725" cy="38219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375" y="495300"/>
            <a:ext cx="1610320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1409700"/>
            <a:ext cx="5190648" cy="266700"/>
          </a:xfrm>
          <a:prstGeom prst="rect">
            <a:avLst/>
          </a:prstGeom>
          <a:noFill/>
        </p:spPr>
        <p:txBody>
          <a:bodyPr wrap="square" lIns="233957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Wafer Substrate Architectures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49434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The evaluation dataset incorporates photolithography CAD models mimicking real advanced node chips.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1409700"/>
            <a:ext cx="5190648" cy="266700"/>
          </a:xfrm>
          <a:prstGeom prst="rect">
            <a:avLst/>
          </a:prstGeom>
          <a:noFill/>
        </p:spPr>
        <p:txBody>
          <a:bodyPr wrap="square" lIns="205382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Synthetic Noise &amp; Distortion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1790700"/>
            <a:ext cx="494347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Realistic fab operational distortions applied to ground truth targets.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1438275"/>
            <a:ext cx="233957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225" y="2424112"/>
            <a:ext cx="46767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DRAM Dense Array: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Extremely tight 2D periodic patterns causing strong spatial auto-correlation ambiguity.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981325"/>
            <a:ext cx="46767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DRAM Loose Array: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Moderate pitch memory structures with repeating contact vias and word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538537"/>
            <a:ext cx="46767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FinFET Logic Layouts: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Complex non-periodic standard logic cells, fin tracks, and routing metals.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438275"/>
            <a:ext cx="205382" cy="20955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77000" y="2202656"/>
          <a:ext cx="4924424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Distortion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Parametric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Reference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100 × 100 pixels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Search Frame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1000 × 1000 pixels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Scale Variation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0.90× to 1.10× (Pyramid Step: 0.025)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Angular Rotation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−2.0° to +2.0° (Step: 1.0°)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SEM Disturbances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Additive Gaussian Noise + Defocus Blur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486525" y="2650331"/>
            <a:ext cx="1602283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8808" y="2650331"/>
            <a:ext cx="3322141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86525" y="3069431"/>
            <a:ext cx="160228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88808" y="3069431"/>
            <a:ext cx="3322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86525" y="3488531"/>
            <a:ext cx="160228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88808" y="3488531"/>
            <a:ext cx="3322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86525" y="3907631"/>
            <a:ext cx="160228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88808" y="3907631"/>
            <a:ext cx="3322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86525" y="4326731"/>
            <a:ext cx="160228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88808" y="4326731"/>
            <a:ext cx="332214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Synthetic Semiconductor Layout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78818"/>
            <a:ext cx="5419725" cy="5293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51075"/>
            <a:ext cx="5419725" cy="2128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171575"/>
            <a:ext cx="5419725" cy="40695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3775" y="495300"/>
            <a:ext cx="1939825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05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171575"/>
            <a:ext cx="5419725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Pure intensity correlation fails under severe SEM brightness drift. Pure edge matching fails under noise. We formulate a robust </a:t>
            </a:r>
            <a:r>
              <a:rPr sz="1125" b="0" i="0" u="none">
                <a:solidFill>
                  <a:srgbClr val="F1F5F9"/>
                </a:solidFill>
                <a:latin typeface="Inter SemiBold"/>
              </a:rPr>
              <a:t>Weighted Dual-Channel Score Fusion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7219" y="2140743"/>
            <a:ext cx="2872085" cy="2055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0100" y="2889200"/>
            <a:ext cx="516064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2D3EE"/>
                </a:solidFill>
                <a:latin typeface="Space Grotesk"/>
              </a:rPr>
              <a:t>Fusion Rationale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181100"/>
            <a:ext cx="5400675" cy="405050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3146375"/>
            <a:ext cx="4648200" cy="472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Gray Score SGray (0.7):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Normalized Cross-Correlation (NCC) over raw intensity. Captures low-frequency structural shapes.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733353"/>
            <a:ext cx="4648200" cy="694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Edge Score SEdge (0.3):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Canny Edge Correlation. Captures high-frequency micro-geometry and fin boundaries immune to contrast shifts.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Mathematical Model: Dual Edge-Gray Fusion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" y="4958656"/>
            <a:ext cx="11125200" cy="8533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326" y="1678781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742" y="1678781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159" y="1678781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6575" y="1678781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77" y="2052787"/>
            <a:ext cx="2558653" cy="16722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1906" y="2052787"/>
            <a:ext cx="2558653" cy="16722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4232" y="2052787"/>
            <a:ext cx="2558653" cy="167223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9648" y="2068266"/>
            <a:ext cx="2558653" cy="167223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7150" y="495300"/>
            <a:ext cx="1857375" cy="257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1171575"/>
            <a:ext cx="1112520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 coarse-to-fine hierarchical search strategy overcomes computational explosion while achieving high accuracy.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06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9707" y="2572047"/>
            <a:ext cx="10012584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750" y="2109218"/>
            <a:ext cx="22665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Space Grotesk SemiBold"/>
              </a:rPr>
              <a:t>Coarse Scale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2412206"/>
            <a:ext cx="2158603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Rescales reference across 9 pyramid levels: [0.90, 0.925, 0.95, 0.975, 1.0, 1.025, 1.05, 1.075, 1.10].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8841" y="2135981"/>
            <a:ext cx="22665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Space Grotesk SemiBold"/>
              </a:rPr>
              <a:t>Top-5 Peak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8841" y="2412206"/>
            <a:ext cx="2158603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Extracts top 5 spatial response peaks across all scale spaces to prevent local minima traps in repetitive arrays.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4257" y="2135981"/>
            <a:ext cx="22665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8B5CF6"/>
                </a:solidFill>
                <a:latin typeface="Space Grotesk SemiBold"/>
              </a:rPr>
              <a:t>40px Local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4257" y="2412206"/>
            <a:ext cx="2158603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Restricts refined matching within a local 40-pixel bounding box centered on each candidate peak.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674" y="2135981"/>
            <a:ext cx="22665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0B981"/>
                </a:solidFill>
                <a:latin typeface="Space Grotesk SemiBold"/>
              </a:rPr>
              <a:t>Rotation Refinement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674" y="2412206"/>
            <a:ext cx="2158603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Evaluates rotational offsets [−2°, −1°, 0°, +1°, +2°] to select candidate with global maximum confidence.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145" y="5234867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31194" y="5186092"/>
            <a:ext cx="6981825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Inter SemiBold"/>
              </a:rPr>
              <a:t>Decision Rule &amp; Confidence Analysis: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Final coordinate (x, y) selected from candidate maximizing </a:t>
            </a:r>
            <a:r>
              <a:rPr sz="1200" b="0" i="0" u="none" dirty="0" err="1">
                <a:solidFill>
                  <a:srgbClr val="CBD5E1"/>
                </a:solidFill>
                <a:latin typeface="Inter"/>
              </a:rPr>
              <a:t>SCombined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. Confidence Gap = Score(Top 1) − Score(Top 2).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Multi-Scale Localization &amp; Refinement Pipeline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71575"/>
            <a:ext cx="5419725" cy="34901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71575"/>
            <a:ext cx="5419725" cy="34901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1819275"/>
            <a:ext cx="4943475" cy="1400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039689"/>
            <a:ext cx="4943475" cy="657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088778"/>
            <a:ext cx="4943475" cy="4714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952130"/>
            <a:ext cx="4943475" cy="4714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495300"/>
            <a:ext cx="1939825" cy="2571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07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1409700"/>
            <a:ext cx="5190648" cy="266700"/>
          </a:xfrm>
          <a:prstGeom prst="rect">
            <a:avLst/>
          </a:prstGeom>
          <a:noFill/>
        </p:spPr>
        <p:txBody>
          <a:bodyPr wrap="square" lIns="233957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Repository &amp; Directory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362325"/>
            <a:ext cx="49434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Pure Python implementation leveraging vectorized NumPy operations and OpenCV C++ bindings.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1409700"/>
            <a:ext cx="5190648" cy="266700"/>
          </a:xfrm>
          <a:prstGeom prst="rect">
            <a:avLst/>
          </a:prstGeom>
          <a:noFill/>
        </p:spPr>
        <p:txBody>
          <a:bodyPr wrap="square" lIns="233957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Space Grotesk SemiBold"/>
              </a:rPr>
              <a:t>Production CLI 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1790700"/>
            <a:ext cx="49434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 SemiBold"/>
              </a:rPr>
              <a:t>Single Pair Inference: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2839789"/>
            <a:ext cx="49434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 SemiBold"/>
              </a:rPr>
              <a:t>Batch Evaluation Harness: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703141"/>
            <a:ext cx="49434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 SemiBold"/>
              </a:rPr>
              <a:t>Submission Entry Point: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1438275"/>
            <a:ext cx="233957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438275"/>
            <a:ext cx="233957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System Implementation &amp; Software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71575"/>
            <a:ext cx="5419725" cy="21455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507581"/>
            <a:ext cx="5419725" cy="17978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171575"/>
            <a:ext cx="5419725" cy="413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5" y="495300"/>
            <a:ext cx="2022276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08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409700"/>
            <a:ext cx="5160645" cy="219075"/>
          </a:xfrm>
          <a:prstGeom prst="rect">
            <a:avLst/>
          </a:prstGeom>
          <a:noFill/>
        </p:spPr>
        <p:txBody>
          <a:bodyPr wrap="square" lIns="168026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Benchmark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745706"/>
            <a:ext cx="5160645" cy="219075"/>
          </a:xfrm>
          <a:prstGeom prst="rect">
            <a:avLst/>
          </a:prstGeom>
          <a:noFill/>
        </p:spPr>
        <p:txBody>
          <a:bodyPr wrap="square" lIns="168026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59E0B"/>
                </a:solidFill>
                <a:latin typeface="Space Grotesk SemiBold"/>
              </a:rPr>
              <a:t>Evaluation Metrics Tracked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181100"/>
            <a:ext cx="5400675" cy="411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438275"/>
            <a:ext cx="168026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1724025"/>
            <a:ext cx="464820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Dataset Scale: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20 Synthetic Semiconductor SEM Test Pairs.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059781"/>
            <a:ext cx="4648200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Ground Truth: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Continuous floating-point coordinates </a:t>
            </a:r>
            <a:r>
              <a:rPr sz="1125" b="0" i="0" u="none">
                <a:solidFill>
                  <a:srgbClr val="F1F5F9"/>
                </a:solidFill>
                <a:latin typeface="Inter SemiBold"/>
              </a:rPr>
              <a:t>(xGT, yGT)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2425303"/>
            <a:ext cx="4648200" cy="539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Primary Metric: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Euclidean Position Error: </a:t>
            </a:r>
            <a:r>
              <a:rPr sz="1125" b="0" i="0" u="none">
                <a:solidFill>
                  <a:srgbClr val="22D3EE"/>
                </a:solidFill>
                <a:latin typeface="Inter"/>
              </a:rPr>
              <a:t> E = sqrt((xpred - xGT)2 + (ypred - yGT)2)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774281"/>
            <a:ext cx="168026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6800" y="4060031"/>
            <a:ext cx="464820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Mean Error, Median Error, Worst Case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395787"/>
            <a:ext cx="464820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Accuracy Thresholds: @1px, @2px, @4px, @5px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4731543"/>
            <a:ext cx="464820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Average Inference Time (Seconds per pair)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Experimental Setup &amp; Benchmark Harness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10705"/>
            <a:ext cx="11125200" cy="2047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71575"/>
            <a:ext cx="2674143" cy="9010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418" y="1171575"/>
            <a:ext cx="2674143" cy="9010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1171575"/>
            <a:ext cx="2674143" cy="90100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456" y="1171575"/>
            <a:ext cx="2674143" cy="90100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2790" y="2391816"/>
            <a:ext cx="4335809" cy="188550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3575" y="495300"/>
            <a:ext cx="1857375" cy="2571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09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1352550"/>
            <a:ext cx="2274093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10B981"/>
                </a:solidFill>
                <a:latin typeface="Space Grotesk"/>
              </a:rPr>
              <a:t>1.044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1767780"/>
            <a:ext cx="22740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MEDIAN POSITION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443" y="1352550"/>
            <a:ext cx="2274093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22D3EE"/>
                </a:solidFill>
                <a:latin typeface="Space Grotesk"/>
              </a:rPr>
              <a:t>80.0%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443" y="1767780"/>
            <a:ext cx="22740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ACCURACY (≤2 PIXELS)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7462" y="1352550"/>
            <a:ext cx="2274093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F59E0B"/>
                </a:solidFill>
                <a:latin typeface="Space Grotesk"/>
              </a:rPr>
              <a:t>61.457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7462" y="1767780"/>
            <a:ext cx="22740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MEAN POSITION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4481" y="1352550"/>
            <a:ext cx="2274093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2700" b="1" i="0" u="none">
                <a:solidFill>
                  <a:srgbClr val="38BDF8"/>
                </a:solidFill>
                <a:latin typeface="Space Grotesk"/>
              </a:rPr>
              <a:t>1.308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4481" y="1767780"/>
            <a:ext cx="22740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AVG RUNTIME / 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0915" y="2629941"/>
            <a:ext cx="4052537" cy="180975"/>
          </a:xfrm>
          <a:prstGeom prst="rect">
            <a:avLst/>
          </a:prstGeom>
          <a:noFill/>
        </p:spPr>
        <p:txBody>
          <a:bodyPr wrap="square" lIns="140047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Space Grotesk SemiBold"/>
              </a:rPr>
              <a:t>Benchmark Summary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0915" y="2648991"/>
            <a:ext cx="140047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60915" y="2925216"/>
            <a:ext cx="3859559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CBD5E1"/>
                </a:solidFill>
                <a:latin typeface="Fira Code"/>
              </a:rPr>
              <a:t>• Total Test Images: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915" y="3148012"/>
            <a:ext cx="3859559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CBD5E1"/>
                </a:solidFill>
                <a:latin typeface="Fira Code"/>
              </a:rPr>
              <a:t>• Median Error: 1.044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0915" y="3370808"/>
            <a:ext cx="3859559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CBD5E1"/>
                </a:solidFill>
                <a:latin typeface="Fira Code"/>
              </a:rPr>
              <a:t>• Mean Error: 61.457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0915" y="3593603"/>
            <a:ext cx="3859559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CBD5E1"/>
                </a:solidFill>
                <a:latin typeface="Fira Code"/>
              </a:rPr>
              <a:t>• Worst Case Error: 651.814 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915" y="3816399"/>
            <a:ext cx="3859559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CBD5E1"/>
                </a:solidFill>
                <a:latin typeface="Fira Code"/>
              </a:rPr>
              <a:t>• Speed / Pair: 1.308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Quantitative Performance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71575"/>
            <a:ext cx="2638425" cy="25498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1171575"/>
            <a:ext cx="2638425" cy="25498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71575"/>
            <a:ext cx="2638425" cy="25498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1171575"/>
            <a:ext cx="2638425" cy="25498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7375" y="495300"/>
            <a:ext cx="161032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10 / 12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1409700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2475" y="1981200"/>
            <a:ext cx="231028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Baseline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314575"/>
            <a:ext cx="22002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EF4444"/>
                </a:solidFill>
                <a:latin typeface="Inter SemiBold"/>
              </a:rPr>
              <a:t>High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620714"/>
            <a:ext cx="2200275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Standard Single-scale NCC template matching. Fails completely under scale variations (&gt;5% scale mismatch) and contrast changes.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1400" y="1409700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1400" y="1981200"/>
            <a:ext cx="231028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+ Multi-Scale Pyramids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2314575"/>
            <a:ext cx="22002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FBBF24"/>
                </a:solidFill>
                <a:latin typeface="Inter SemiBold"/>
              </a:rPr>
              <a:t>Scale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400" y="2620714"/>
            <a:ext cx="2200275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Introduced 9 scale levels (0.90x to 1.10x). Successfully resolved scale mismatches but sensitive to SEM additive noise.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1409700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10325" y="1981200"/>
            <a:ext cx="231028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+ Edge-Gray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2314575"/>
            <a:ext cx="22002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8BDF8"/>
                </a:solidFill>
                <a:latin typeface="Inter SemiBold"/>
              </a:rPr>
              <a:t>Noise Immunity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620714"/>
            <a:ext cx="2200275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Added Canny edge score (30% weight). Provides sharp geometric boundaries immune to intensity noise &amp; blur.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0" y="1409700"/>
            <a:ext cx="419100" cy="419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9250" y="1981200"/>
            <a:ext cx="231028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+ Top-5 Local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2314575"/>
            <a:ext cx="220027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4D399"/>
                </a:solidFill>
                <a:latin typeface="Inter SemiBold"/>
              </a:rPr>
              <a:t>Sub-2px 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2620714"/>
            <a:ext cx="2200275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Added 40px local windowing &amp; rotation refinement (-2° to +2°). Reached 80% accuracy ≤2px with 1.044px median error.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637" y="1514475"/>
            <a:ext cx="104775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4275" y="1514475"/>
            <a:ext cx="13335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1514475"/>
            <a:ext cx="13335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7837" y="1514475"/>
            <a:ext cx="161925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Ablation &amp; Algorithm Progression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10582"/>
            <a:ext cx="111252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71575"/>
            <a:ext cx="5419725" cy="11171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402978"/>
            <a:ext cx="5419725" cy="111710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675" y="495300"/>
            <a:ext cx="1445418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1825" y="6515100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11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967757"/>
            <a:ext cx="1581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Algorithmic Limitations: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3" y="4272557"/>
            <a:ext cx="10363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Lack of global semantic context descriptors • Integer pixel grid step limits sub-pixel parabolic fitting • High spatial ambiguity in un-patterned wafer regions.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1171575"/>
          <a:ext cx="5400673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Image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Ground Truth (x, 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Prediction (x, 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Error (px)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43F5E"/>
                          </a:solidFill>
                          <a:latin typeface="Fira Code"/>
                        </a:rPr>
                        <a:t>Image 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(360.1, 58.3)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(943, 350)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43F5E"/>
                          </a:solidFill>
                          <a:latin typeface="Fira Code"/>
                        </a:rPr>
                        <a:t>651.81 px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9E0B"/>
                          </a:solidFill>
                          <a:latin typeface="Fira Code"/>
                        </a:rPr>
                        <a:t>Image 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(794.9, 198.7)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(700, 492)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9E0B"/>
                          </a:solidFill>
                          <a:latin typeface="Fira Code"/>
                        </a:rPr>
                        <a:t>308.27 px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9E0B"/>
                          </a:solidFill>
                          <a:latin typeface="Fira Code"/>
                        </a:rPr>
                        <a:t>Image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(928.9, 666.5)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Fira Code"/>
                        </a:rPr>
                        <a:t>(718, 778)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9E0B"/>
                          </a:solidFill>
                          <a:latin typeface="Fira Code"/>
                        </a:rPr>
                        <a:t>238.56 px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42925" y="1619250"/>
            <a:ext cx="1038522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81447" y="1619250"/>
            <a:ext cx="1724025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05472" y="1619250"/>
            <a:ext cx="1516260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21733" y="1619250"/>
            <a:ext cx="1121866" cy="952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5575" y="1409700"/>
            <a:ext cx="5160645" cy="200025"/>
          </a:xfrm>
          <a:prstGeom prst="rect">
            <a:avLst/>
          </a:prstGeom>
          <a:noFill/>
        </p:spPr>
        <p:txBody>
          <a:bodyPr wrap="square" lIns="149423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43F5E"/>
                </a:solidFill>
                <a:latin typeface="Space Grotesk SemiBold"/>
              </a:rPr>
              <a:t>Primary Root Cause: Structural 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1666875"/>
            <a:ext cx="491490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Large outliers occur exclusively on highly repetitive DRAM memory arrays. Identical pitch causes identical correlation scores across multiple array blocks.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2641103"/>
            <a:ext cx="5160645" cy="200025"/>
          </a:xfrm>
          <a:prstGeom prst="rect">
            <a:avLst/>
          </a:prstGeom>
          <a:noFill/>
        </p:spPr>
        <p:txBody>
          <a:bodyPr wrap="square" lIns="149423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59E0B"/>
                </a:solidFill>
                <a:latin typeface="Space Grotesk SemiBold"/>
              </a:rPr>
              <a:t>Confidence Gap Indicator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2898278"/>
            <a:ext cx="491490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Failed predictions exhibit a near-zero Confidence Gap between Top-1 and Top-2 peaks (ΔS &lt; 0.012), providing a reliable self-diagnostic metric.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925" y="2038350"/>
            <a:ext cx="103852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81447" y="2038350"/>
            <a:ext cx="17240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05472" y="2038350"/>
            <a:ext cx="15162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21733" y="2038350"/>
            <a:ext cx="112186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925" y="2457450"/>
            <a:ext cx="103852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81447" y="2457450"/>
            <a:ext cx="17240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05472" y="2457450"/>
            <a:ext cx="15162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21733" y="2457450"/>
            <a:ext cx="112186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1428750"/>
            <a:ext cx="149423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660153"/>
            <a:ext cx="149423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Failure Case Analysis &amp; Technical Root Causes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9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17220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226718"/>
            <a:ext cx="11125200" cy="127486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71575"/>
            <a:ext cx="5419725" cy="28170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171575"/>
            <a:ext cx="5419725" cy="28170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381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Summary &amp; Strategic Technical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923925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525" y="495300"/>
            <a:ext cx="2187029" cy="257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276975"/>
            <a:ext cx="3400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Applied Materials Drift-Sense Finalist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1825" y="6276975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Slide 12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96" y="4426743"/>
            <a:ext cx="1126140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Space Grotesk"/>
              </a:rP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4826793"/>
            <a:ext cx="1072515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38BDF8"/>
                </a:solidFill>
                <a:latin typeface="Inter"/>
              </a:rPr>
              <a:t>Applied Materials Drift-Sense Hackathon | SEMICON India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5124450"/>
            <a:ext cx="10725150" cy="16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sz="900" b="0" i="0" u="none" dirty="0">
                <a:solidFill>
                  <a:srgbClr val="64748B"/>
                </a:solidFill>
                <a:latin typeface="Fira Code"/>
              </a:rPr>
              <a:t>Repository Files Verified: infer_v4.py • evaluate_v2.py • results.csv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409700"/>
            <a:ext cx="5160645" cy="219075"/>
          </a:xfrm>
          <a:prstGeom prst="rect">
            <a:avLst/>
          </a:prstGeom>
          <a:noFill/>
        </p:spPr>
        <p:txBody>
          <a:bodyPr wrap="square" lIns="187076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2D3EE"/>
                </a:solidFill>
                <a:latin typeface="Space Grotesk SemiBold"/>
              </a:rPr>
              <a:t>Key Accomplishments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1409700"/>
            <a:ext cx="5160645" cy="219075"/>
          </a:xfrm>
          <a:prstGeom prst="rect">
            <a:avLst/>
          </a:prstGeom>
          <a:noFill/>
        </p:spPr>
        <p:txBody>
          <a:bodyPr wrap="square" lIns="168026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78BFA"/>
                </a:solidFill>
                <a:latin typeface="Space Grotesk SemiBold"/>
              </a:rPr>
              <a:t>Next-Gen Production Roadmap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438275"/>
            <a:ext cx="187076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6800" y="1743075"/>
            <a:ext cx="46482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Sub-2px Precision: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Achieved 1.044 px median localization error across noisy SEM images.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2300287"/>
            <a:ext cx="4648200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High Accuracy: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80% of test cases matched within ≤ 2 pixels.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2636043"/>
            <a:ext cx="46482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Real-Time Execution: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1.308 seconds average execution time per image pair.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193256"/>
            <a:ext cx="46482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Self-Diagnostic: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Confidence Gap metric reliably detects ambiguous predictions.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1438275"/>
            <a:ext cx="168026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72275" y="1743075"/>
            <a:ext cx="46482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Sub-Pixel Refinement: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Implement 2D Gaussian/Parabolic response peak fitting.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2300287"/>
            <a:ext cx="46482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Feature Descriptor Verification: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Integrate SIFT / ORB feature verification for DRAM arrays.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2857500"/>
            <a:ext cx="46482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F1F5F9"/>
                </a:solidFill>
                <a:latin typeface="Inter SemiBold"/>
              </a:rPr>
              <a:t>Deep Learning Embeddings: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Transition to LoFTR / SuperPoint Transformer feature matching.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181100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1952625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19431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19431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7146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7146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239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8775" y="1324272"/>
            <a:ext cx="100298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https://static.vecteezy.com/system/resources/previews/079/048/871/large_2x/silicon-wafer-on-inspection-station-in-a-modern-semiconductor-cleanroom-photo.jpg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5" y="1563737"/>
            <a:ext cx="100298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9550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28775" y="2095797"/>
            <a:ext cx="100298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https://www.nanoimages.com/wp-content/uploads/2021/12/Wafer-768x576-1.jpg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8775" y="2335262"/>
            <a:ext cx="100298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www.nanoimages.com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6257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28775" y="2867025"/>
            <a:ext cx="10029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https://static.vecteezy.com/system/resources/previews/072/505/153/non_2x/macro-shot-of-a-silicon-microchip-wafer-with-complex-circuits-and-refractive-colors-photo.jpg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8775" y="3298328"/>
            <a:ext cx="100298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38150"/>
            <a:ext cx="116586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Space Grotesk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33450"/>
            <a:ext cx="111252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BD963C-3CAA-E4A7-2DD9-364E784C4479}"/>
              </a:ext>
            </a:extLst>
          </p:cNvPr>
          <p:cNvSpPr txBox="1"/>
          <p:nvPr/>
        </p:nvSpPr>
        <p:spPr>
          <a:xfrm>
            <a:off x="623455" y="3739560"/>
            <a:ext cx="977784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Citations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[1] M. Lifshits, R. Goldenberg, E. Rivlin, M. </a:t>
            </a:r>
            <a:r>
              <a:rPr lang="en-IN" sz="1600" dirty="0" err="1">
                <a:solidFill>
                  <a:schemeClr val="bg1"/>
                </a:solidFill>
              </a:rPr>
              <a:t>Rudzsky</a:t>
            </a:r>
            <a:r>
              <a:rPr lang="en-IN" sz="1600" dirty="0">
                <a:solidFill>
                  <a:schemeClr val="bg1"/>
                </a:solidFill>
              </a:rPr>
              <a:t>, and M. Adel,    “Image-Based Wafer Navigation,” IEEE Trans. Semiconductor Manufacturing,    vol. 17, no. 3, pp. 432–443, Aug. 2004, </a:t>
            </a:r>
            <a:r>
              <a:rPr lang="en-IN" sz="1600" dirty="0" err="1">
                <a:solidFill>
                  <a:schemeClr val="bg1"/>
                </a:solidFill>
              </a:rPr>
              <a:t>doi</a:t>
            </a:r>
            <a:r>
              <a:rPr lang="en-IN" sz="1600" dirty="0">
                <a:solidFill>
                  <a:schemeClr val="bg1"/>
                </a:solidFill>
              </a:rPr>
              <a:t>: 10.1109/TSM.2004.831939.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[2] T. Hiroi, M. Tanaka, C. Shishido, and M. Watanabe,    “Robust Pattern Registration Method using Plural Evaluation Functions    for LSI Patterns,” IEEJ Trans. Electronics, Information and Systems,    vol. 124, no. 3, pp. 621–628, 2004, </a:t>
            </a:r>
            <a:r>
              <a:rPr lang="en-IN" sz="1600" dirty="0" err="1">
                <a:solidFill>
                  <a:schemeClr val="bg1"/>
                </a:solidFill>
              </a:rPr>
              <a:t>doi</a:t>
            </a:r>
            <a:r>
              <a:rPr lang="en-IN" sz="1600" dirty="0">
                <a:solidFill>
                  <a:schemeClr val="bg1"/>
                </a:solidFill>
              </a:rPr>
              <a:t>: 10.1541/ieejeiss.124.621.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[4] Y. Nam, S. Joo, N. Kwak, K. Kim, and D.-N. Kim,    “Precise Pattern Alignment for Die-to-Database Inspection Based on    the Generative Adversarial Network,” IEEE Trans. Semiconductor    Manufacturing, vol. 35, no. 3, pp. 532–539, Aug. 2022,    </a:t>
            </a:r>
            <a:r>
              <a:rPr lang="en-IN" sz="1600" dirty="0" err="1">
                <a:solidFill>
                  <a:schemeClr val="bg1"/>
                </a:solidFill>
              </a:rPr>
              <a:t>doi</a:t>
            </a:r>
            <a:r>
              <a:rPr lang="en-IN" sz="1600" dirty="0">
                <a:solidFill>
                  <a:schemeClr val="bg1"/>
                </a:solidFill>
              </a:rPr>
              <a:t>: 10.1109/TSM.2022.3171788.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1617</Words>
  <Application>Microsoft Office PowerPoint</Application>
  <PresentationFormat>Widescreen</PresentationFormat>
  <Paragraphs>192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Fira Code</vt:lpstr>
      <vt:lpstr>Inter</vt:lpstr>
      <vt:lpstr>Inter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baby</dc:creator>
  <cp:keywords/>
  <dc:description>generated using python-pptx</dc:description>
  <cp:lastModifiedBy>Adithyan S</cp:lastModifiedBy>
  <cp:revision>5</cp:revision>
  <dcterms:created xsi:type="dcterms:W3CDTF">2013-01-27T09:14:16Z</dcterms:created>
  <dcterms:modified xsi:type="dcterms:W3CDTF">2026-08-18T18:03:30Z</dcterms:modified>
  <cp:category/>
</cp:coreProperties>
</file>